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68735" y="822960"/>
            <a:ext cx="109728" cy="914400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36289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1" algn="r">
              <a:buNone/>
            </a:pPr>
            <a:r>
              <a:rPr sz="4400" b="1" lang="ar-AE">
                <a:solidFill>
                  <a:srgbClr val="0B2A4A"/>
                </a:solidFill>
                <a:latin typeface="Arial"/>
                <a:cs typeface="Arial"/>
              </a:rPr>
              <a:t>نتائج الربع الثالث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10545775" cy="19050"/>
          </a:xfrm>
          <a:prstGeom prst="rect">
            <a:avLst/>
          </a:prstGeom>
          <a:solidFill>
            <a:srgbClr val="D9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 marL="431800" indent="-431800">
              <a:lnSpc>
                <a:spcPct val="130000"/>
              </a:lnSpc>
              <a:spcAft>
                <a:spcPts val="1800"/>
              </a:spcAft>
              <a:buClr>
                <a:srgbClr val="B88A2E"/>
              </a:buClr>
              <a:buFont typeface="Arial"/>
              <a:buChar char="•"/>
            </a:pPr>
            <a:r>
              <a:rPr sz="3000" lang="ar-AE">
                <a:solidFill>
                  <a:srgbClr val="222B36"/>
                </a:solidFill>
                <a:latin typeface="Arial"/>
                <a:cs typeface="Arial"/>
              </a:rPr>
              <a:t>نمو الإيرادات بنسبة 25%</a:t>
            </a:r>
          </a:p>
          <a:p>
            <a:pPr rtl="1" algn="r" marL="431800" indent="-431800">
              <a:lnSpc>
                <a:spcPct val="130000"/>
              </a:lnSpc>
              <a:spcAft>
                <a:spcPts val="1800"/>
              </a:spcAft>
              <a:buClr>
                <a:srgbClr val="B88A2E"/>
              </a:buClr>
              <a:buFont typeface="Arial"/>
              <a:buChar char="•"/>
            </a:pPr>
            <a:r>
              <a:rPr sz="3000" lang="ar-AE">
                <a:solidFill>
                  <a:srgbClr val="222B36"/>
                </a:solidFill>
                <a:latin typeface="Arial"/>
                <a:cs typeface="Arial"/>
              </a:rPr>
              <a:t>استقطاب 1,200 عميل جديد</a:t>
            </a:r>
          </a:p>
          <a:p>
            <a:pPr rtl="1" algn="r" marL="431800" indent="-431800">
              <a:lnSpc>
                <a:spcPct val="130000"/>
              </a:lnSpc>
              <a:spcAft>
                <a:spcPts val="1800"/>
              </a:spcAft>
              <a:buClr>
                <a:srgbClr val="B88A2E"/>
              </a:buClr>
              <a:buFont typeface="Arial"/>
              <a:buChar char="•"/>
            </a:pPr>
            <a:r>
              <a:rPr sz="3000" lang="ar-AE">
                <a:solidFill>
                  <a:srgbClr val="222B36"/>
                </a:solidFill>
                <a:latin typeface="Arial"/>
                <a:cs typeface="Arial"/>
              </a:rPr>
              <a:t>وصول مؤشر صافي نقاط الترويج (NPS) إلى 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