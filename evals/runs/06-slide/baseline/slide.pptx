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4000" b="1" lang="ar-AE" altLang="en-US">
                <a:solidFill>
                  <a:srgbClr val="0B4F3C"/>
                </a:solidFill>
                <a:latin typeface="Arial"/>
                <a:ea typeface="Arial"/>
                <a:cs typeface="Arial"/>
              </a:rPr>
              <a:t>نتائج الربع الثالث</a:t>
            </a:r>
          </a:p>
          <a:p>
            <a:pPr algn="r" rtl="1"/>
            <a:r>
              <a:rPr sz="1600" b="0" lang="ar-AE" altLang="en-US">
                <a:solidFill>
                  <a:srgbClr val="5B6B66"/>
                </a:solidFill>
                <a:latin typeface="Arial"/>
                <a:ea typeface="Arial"/>
                <a:cs typeface="Arial"/>
              </a:rPr>
              <a:t>اجتماع مجلس الإدارة</a:t>
            </a:r>
          </a:p>
        </p:txBody>
      </p:sp>
      <p:sp>
        <p:nvSpPr>
          <p:cNvPr id="3" name="Stat card 1"/>
          <p:cNvSpPr/>
          <p:nvPr/>
        </p:nvSpPr>
        <p:spPr>
          <a:xfrm>
            <a:off x="8188757" y="1828800"/>
            <a:ext cx="3454298" cy="210312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 text 1"/>
          <p:cNvSpPr txBox="1"/>
          <p:nvPr/>
        </p:nvSpPr>
        <p:spPr>
          <a:xfrm>
            <a:off x="8463077" y="2057400"/>
            <a:ext cx="2905658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6000" b="1" lang="ar-AE" altLang="en-US">
                <a:solidFill>
                  <a:srgbClr val="0B4F3C"/>
                </a:solidFill>
                <a:latin typeface="Arial"/>
                <a:ea typeface="Arial"/>
                <a:cs typeface="Arial"/>
              </a:rPr>
              <a:t>25%</a:t>
            </a:r>
          </a:p>
          <a:p>
            <a:pPr algn="ctr" rtl="1"/>
            <a:r>
              <a:rPr sz="18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نمو الإيرادات</a:t>
            </a:r>
          </a:p>
        </p:txBody>
      </p:sp>
      <p:sp>
        <p:nvSpPr>
          <p:cNvPr id="5" name="Stat card 2"/>
          <p:cNvSpPr/>
          <p:nvPr/>
        </p:nvSpPr>
        <p:spPr>
          <a:xfrm>
            <a:off x="4368699" y="1828800"/>
            <a:ext cx="3454298" cy="210312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text 2"/>
          <p:cNvSpPr txBox="1"/>
          <p:nvPr/>
        </p:nvSpPr>
        <p:spPr>
          <a:xfrm>
            <a:off x="4643019" y="2057400"/>
            <a:ext cx="2905658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6000" b="1" lang="ar-AE" altLang="en-US">
                <a:solidFill>
                  <a:srgbClr val="0B4F3C"/>
                </a:solidFill>
                <a:latin typeface="Arial"/>
                <a:ea typeface="Arial"/>
                <a:cs typeface="Arial"/>
              </a:rPr>
              <a:t>1,200</a:t>
            </a:r>
          </a:p>
          <a:p>
            <a:pPr algn="ctr" rtl="1"/>
            <a:r>
              <a:rPr sz="18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عميل جديد</a:t>
            </a:r>
          </a:p>
        </p:txBody>
      </p:sp>
      <p:sp>
        <p:nvSpPr>
          <p:cNvPr id="7" name="Stat card 3"/>
          <p:cNvSpPr/>
          <p:nvPr/>
        </p:nvSpPr>
        <p:spPr>
          <a:xfrm>
            <a:off x="548641" y="1828800"/>
            <a:ext cx="3454298" cy="210312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 text 3"/>
          <p:cNvSpPr txBox="1"/>
          <p:nvPr/>
        </p:nvSpPr>
        <p:spPr>
          <a:xfrm>
            <a:off x="822961" y="2057400"/>
            <a:ext cx="2905658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6000" b="1" lang="ar-AE" altLang="en-US">
                <a:solidFill>
                  <a:srgbClr val="0B4F3C"/>
                </a:solidFill>
                <a:latin typeface="Arial"/>
                <a:ea typeface="Arial"/>
                <a:cs typeface="Arial"/>
              </a:rPr>
              <a:t>62</a:t>
            </a:r>
          </a:p>
          <a:p>
            <a:pPr algn="ctr" rtl="1"/>
            <a:r>
              <a:rPr sz="18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مؤشر صافي الترويج (NPS)</a:t>
            </a:r>
          </a:p>
        </p:txBody>
      </p:sp>
      <p:sp>
        <p:nvSpPr>
          <p:cNvPr id="9" name="Key points"/>
          <p:cNvSpPr txBox="1"/>
          <p:nvPr/>
        </p:nvSpPr>
        <p:spPr>
          <a:xfrm>
            <a:off x="548640" y="4343400"/>
            <a:ext cx="1109441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marL="365760" indent="-274320">
              <a:spcAft>
                <a:spcPts val="1000"/>
              </a:spcAft>
              <a:buClr>
                <a:srgbClr val="B88A2E"/>
              </a:buClr>
              <a:buFont typeface="Arial"/>
              <a:buChar char="•"/>
            </a:pPr>
            <a:r>
              <a:rPr sz="20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نمو الإيرادات بنسبة 25%</a:t>
            </a:r>
          </a:p>
          <a:p>
            <a:pPr algn="r" rtl="1" marL="365760" indent="-274320">
              <a:spcAft>
                <a:spcPts val="1000"/>
              </a:spcAft>
              <a:buClr>
                <a:srgbClr val="B88A2E"/>
              </a:buClr>
              <a:buFont typeface="Arial"/>
              <a:buChar char="•"/>
            </a:pPr>
            <a:r>
              <a:rPr sz="20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انضمام 1,200 عميل جديد</a:t>
            </a:r>
          </a:p>
          <a:p>
            <a:pPr algn="r" rtl="1" marL="365760" indent="-274320">
              <a:spcAft>
                <a:spcPts val="1000"/>
              </a:spcAft>
              <a:buClr>
                <a:srgbClr val="B88A2E"/>
              </a:buClr>
              <a:buFont typeface="Arial"/>
              <a:buChar char="•"/>
            </a:pPr>
            <a:r>
              <a:rPr sz="2000" b="0" lang="ar-AE" altLang="en-US">
                <a:solidFill>
                  <a:srgbClr val="1F2A2E"/>
                </a:solidFill>
                <a:latin typeface="Arial"/>
                <a:ea typeface="Arial"/>
                <a:cs typeface="Arial"/>
              </a:rPr>
              <a:t>تحقيق 62 في مؤشر صافي الترويج (NPS)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